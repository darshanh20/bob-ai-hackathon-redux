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Inter" panose="020B0604020202020204" charset="0"/>
      <p:regular r:id="rId10"/>
    </p:embeddedFont>
    <p:embeddedFont>
      <p:font typeface="Inter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11430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62914" y="946699"/>
            <a:ext cx="1377401" cy="450752"/>
            <a:chOff x="0" y="0"/>
            <a:chExt cx="1531110" cy="5010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31136" cy="501015"/>
            </a:xfrm>
            <a:custGeom>
              <a:avLst/>
              <a:gdLst/>
              <a:ahLst/>
              <a:cxnLst/>
              <a:rect l="l" t="t" r="r" b="b"/>
              <a:pathLst>
                <a:path w="1531136" h="501015">
                  <a:moveTo>
                    <a:pt x="0" y="110871"/>
                  </a:moveTo>
                  <a:cubicBezTo>
                    <a:pt x="0" y="49657"/>
                    <a:pt x="22332" y="0"/>
                    <a:pt x="49861" y="0"/>
                  </a:cubicBezTo>
                  <a:lnTo>
                    <a:pt x="1481261" y="0"/>
                  </a:lnTo>
                  <a:cubicBezTo>
                    <a:pt x="1508790" y="0"/>
                    <a:pt x="1531136" y="49657"/>
                    <a:pt x="1531136" y="110871"/>
                  </a:cubicBezTo>
                  <a:lnTo>
                    <a:pt x="1531136" y="390144"/>
                  </a:lnTo>
                  <a:cubicBezTo>
                    <a:pt x="1531136" y="451358"/>
                    <a:pt x="1508790" y="501015"/>
                    <a:pt x="1481261" y="501015"/>
                  </a:cubicBezTo>
                  <a:lnTo>
                    <a:pt x="49861" y="501015"/>
                  </a:lnTo>
                  <a:cubicBezTo>
                    <a:pt x="22332" y="501015"/>
                    <a:pt x="0" y="451358"/>
                    <a:pt x="0" y="390144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2404" r="-122357" b="-82412"/>
              </a:stretch>
            </a:blipFill>
            <a:ln w="9532" cap="sq">
              <a:solidFill>
                <a:srgbClr val="4950BC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137609" y="1088184"/>
            <a:ext cx="1228011" cy="447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9"/>
              </a:lnSpc>
            </a:pPr>
            <a:r>
              <a:rPr lang="en-US" sz="1501" spc="-37">
                <a:solidFill>
                  <a:srgbClr val="4950BC"/>
                </a:solidFill>
                <a:latin typeface="Inter"/>
                <a:ea typeface="Inter"/>
                <a:cs typeface="Inter"/>
                <a:sym typeface="Inter"/>
              </a:rPr>
              <a:t>TEAM REDUX </a:t>
            </a:r>
          </a:p>
          <a:p>
            <a:pPr algn="l">
              <a:lnSpc>
                <a:spcPts val="1729"/>
              </a:lnSpc>
            </a:pPr>
            <a:endParaRPr lang="en-US" sz="1501" spc="-37">
              <a:solidFill>
                <a:srgbClr val="4950B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92990" y="1445076"/>
            <a:ext cx="2588409" cy="788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64"/>
              </a:lnSpc>
            </a:pPr>
            <a:r>
              <a:rPr lang="en-US" sz="5100" b="1" spc="-153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PORTAI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990" y="2365448"/>
            <a:ext cx="14075212" cy="60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8"/>
              </a:lnSpc>
            </a:pPr>
            <a:r>
              <a:rPr lang="en-US" sz="3852" b="1" spc="-117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Autonomous 72-Hour Port Congestion Predictor &amp; Shift Planner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6066" y="3287692"/>
            <a:ext cx="16315868" cy="132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400" spc="-48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Predict · Optimize · Simulate · Brief</a:t>
            </a:r>
          </a:p>
          <a:p>
            <a:pPr algn="l">
              <a:lnSpc>
                <a:spcPts val="3542"/>
              </a:lnSpc>
            </a:pPr>
            <a:r>
              <a:rPr lang="en-US" sz="2400" spc="-48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 AI-powered maritime operations command </a:t>
            </a:r>
            <a:r>
              <a:rPr lang="en-US" sz="2400" spc="-48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centre</a:t>
            </a:r>
            <a:r>
              <a:rPr lang="en-US" sz="2400" spc="-48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that predicts </a:t>
            </a:r>
            <a:r>
              <a:rPr lang="en-US" sz="2400" spc="-48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harbour</a:t>
            </a:r>
            <a:r>
              <a:rPr lang="en-US" sz="2400" spc="-48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congestion 72 hours ahead, </a:t>
            </a:r>
            <a:r>
              <a:rPr lang="en-US" sz="2400" spc="-48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optimises</a:t>
            </a:r>
            <a:r>
              <a:rPr lang="en-US" sz="2400" spc="-48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berth and crane dispatching, and simulates disruption scenarios in real time.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76841" y="5143500"/>
            <a:ext cx="9123348" cy="4356648"/>
            <a:chOff x="0" y="0"/>
            <a:chExt cx="9870008" cy="4713199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9870059" cy="4713224"/>
            </a:xfrm>
            <a:custGeom>
              <a:avLst/>
              <a:gdLst/>
              <a:ahLst/>
              <a:cxnLst/>
              <a:rect l="l" t="t" r="r" b="b"/>
              <a:pathLst>
                <a:path w="9870059" h="4713224">
                  <a:moveTo>
                    <a:pt x="0" y="0"/>
                  </a:moveTo>
                  <a:lnTo>
                    <a:pt x="9870059" y="0"/>
                  </a:lnTo>
                  <a:lnTo>
                    <a:pt x="9870059" y="4713224"/>
                  </a:lnTo>
                  <a:lnTo>
                    <a:pt x="0" y="471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" r="-4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0299697" y="5581298"/>
            <a:ext cx="7933630" cy="43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400" spc="-4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PORTAI COMMAND CENTER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99697" y="6132090"/>
            <a:ext cx="7018534" cy="1618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8455" lvl="1" indent="-199227" algn="l">
              <a:lnSpc>
                <a:spcPts val="3247"/>
              </a:lnSpc>
              <a:buFont typeface="Arial"/>
              <a:buChar char="•"/>
            </a:pPr>
            <a:r>
              <a:rPr lang="en-US" sz="2199" spc="-4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Predict: 72-hour congestion forecasting</a:t>
            </a:r>
          </a:p>
          <a:p>
            <a:pPr marL="398455" lvl="1" indent="-199227" algn="l">
              <a:lnSpc>
                <a:spcPts val="3247"/>
              </a:lnSpc>
              <a:buFont typeface="Arial"/>
              <a:buChar char="•"/>
            </a:pPr>
            <a:r>
              <a:rPr lang="en-US" sz="2199" spc="-4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Optimize: Priority-aware berth &amp; crane dispatch</a:t>
            </a:r>
          </a:p>
          <a:p>
            <a:pPr marL="398455" lvl="1" indent="-199227" algn="l">
              <a:lnSpc>
                <a:spcPts val="3247"/>
              </a:lnSpc>
              <a:buFont typeface="Arial"/>
              <a:buChar char="•"/>
            </a:pPr>
            <a:r>
              <a:rPr lang="en-US" sz="2199" spc="-4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Simulate: Non-destructive disruption testing</a:t>
            </a:r>
          </a:p>
          <a:p>
            <a:pPr marL="398455" lvl="1" indent="-199227" algn="l">
              <a:lnSpc>
                <a:spcPts val="3247"/>
              </a:lnSpc>
              <a:buFont typeface="Arial"/>
              <a:buChar char="•"/>
            </a:pPr>
            <a:r>
              <a:rPr lang="en-US" sz="2199" spc="-4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Brief: AI-powered operational recommendations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99697" y="7947585"/>
            <a:ext cx="7933630" cy="87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400" spc="-48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From reactive port operations to proactive decision-making.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784650"/>
            <a:ext cx="16315868" cy="673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8"/>
              </a:lnSpc>
            </a:pPr>
            <a:r>
              <a:rPr lang="en-US" sz="4053" b="1" spc="-12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The Multi-Million-Dollar Harbour Bottleneck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1719901"/>
            <a:ext cx="17230954" cy="827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0"/>
              </a:lnSpc>
            </a:pPr>
            <a:r>
              <a:rPr lang="en-US" sz="2400" spc="-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Ports react to congestion </a:t>
            </a:r>
            <a:r>
              <a:rPr lang="en-US" sz="2400" b="1" spc="-5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after</a:t>
            </a:r>
            <a:r>
              <a:rPr lang="en-US" sz="2400" spc="-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it has already formed. Static spreadsheets and naive FCFS scheduling create costly, avoidable delays.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030474" y="2157365"/>
            <a:ext cx="5783549" cy="5783694"/>
            <a:chOff x="0" y="0"/>
            <a:chExt cx="7060984" cy="7061162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7060946" cy="7061200"/>
            </a:xfrm>
            <a:custGeom>
              <a:avLst/>
              <a:gdLst/>
              <a:ahLst/>
              <a:cxnLst/>
              <a:rect l="l" t="t" r="r" b="b"/>
              <a:pathLst>
                <a:path w="7060946" h="7061200">
                  <a:moveTo>
                    <a:pt x="0" y="0"/>
                  </a:moveTo>
                  <a:lnTo>
                    <a:pt x="7060946" y="0"/>
                  </a:lnTo>
                  <a:lnTo>
                    <a:pt x="7060946" y="7061200"/>
                  </a:lnTo>
                  <a:lnTo>
                    <a:pt x="0" y="706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r="-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8574519" y="4715770"/>
            <a:ext cx="8743712" cy="827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0"/>
              </a:lnSpc>
            </a:pPr>
            <a:r>
              <a:rPr lang="en-US" sz="2400" spc="-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Serving: Harbour Masters · Port Operations Directors · Shift Dispatchers · Marine Terminal Operators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88219" y="8045834"/>
            <a:ext cx="3974744" cy="1868923"/>
            <a:chOff x="0" y="0"/>
            <a:chExt cx="5296726" cy="249051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296789" cy="2490452"/>
            </a:xfrm>
            <a:custGeom>
              <a:avLst/>
              <a:gdLst/>
              <a:ahLst/>
              <a:cxnLst/>
              <a:rect l="l" t="t" r="r" b="b"/>
              <a:pathLst>
                <a:path w="5296789" h="2490452">
                  <a:moveTo>
                    <a:pt x="0" y="152136"/>
                  </a:moveTo>
                  <a:cubicBezTo>
                    <a:pt x="0" y="68052"/>
                    <a:pt x="52832" y="0"/>
                    <a:pt x="118110" y="0"/>
                  </a:cubicBezTo>
                  <a:lnTo>
                    <a:pt x="5178679" y="0"/>
                  </a:lnTo>
                  <a:cubicBezTo>
                    <a:pt x="5243957" y="0"/>
                    <a:pt x="5296789" y="68052"/>
                    <a:pt x="5296789" y="152136"/>
                  </a:cubicBezTo>
                  <a:lnTo>
                    <a:pt x="5296789" y="2338316"/>
                  </a:lnTo>
                  <a:cubicBezTo>
                    <a:pt x="5296789" y="2422400"/>
                    <a:pt x="5243957" y="2490452"/>
                    <a:pt x="5178679" y="2490452"/>
                  </a:cubicBezTo>
                  <a:lnTo>
                    <a:pt x="118110" y="2490452"/>
                  </a:lnTo>
                  <a:cubicBezTo>
                    <a:pt x="52832" y="2490452"/>
                    <a:pt x="0" y="2422400"/>
                    <a:pt x="0" y="2338316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211932" y="8260023"/>
            <a:ext cx="3601052" cy="362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1" spc="-72" dirty="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$30K–$50K+ Demurrage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1932" y="8660997"/>
            <a:ext cx="3525126" cy="746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199" spc="-46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Potential cost per idle vessel per day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105838" y="8017259"/>
            <a:ext cx="3972544" cy="1897498"/>
            <a:chOff x="0" y="0"/>
            <a:chExt cx="5296726" cy="252999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296789" cy="2529931"/>
            </a:xfrm>
            <a:custGeom>
              <a:avLst/>
              <a:gdLst/>
              <a:ahLst/>
              <a:cxnLst/>
              <a:rect l="l" t="t" r="r" b="b"/>
              <a:pathLst>
                <a:path w="5296789" h="2529931">
                  <a:moveTo>
                    <a:pt x="0" y="154548"/>
                  </a:moveTo>
                  <a:cubicBezTo>
                    <a:pt x="0" y="69131"/>
                    <a:pt x="52832" y="0"/>
                    <a:pt x="118110" y="0"/>
                  </a:cubicBezTo>
                  <a:lnTo>
                    <a:pt x="5178679" y="0"/>
                  </a:lnTo>
                  <a:cubicBezTo>
                    <a:pt x="5243957" y="0"/>
                    <a:pt x="5296789" y="69131"/>
                    <a:pt x="5296789" y="154548"/>
                  </a:cubicBezTo>
                  <a:lnTo>
                    <a:pt x="5296789" y="2375383"/>
                  </a:lnTo>
                  <a:cubicBezTo>
                    <a:pt x="5296789" y="2460800"/>
                    <a:pt x="5243957" y="2529931"/>
                    <a:pt x="5178679" y="2529931"/>
                  </a:cubicBezTo>
                  <a:lnTo>
                    <a:pt x="118110" y="2529931"/>
                  </a:lnTo>
                  <a:cubicBezTo>
                    <a:pt x="52832" y="2529931"/>
                    <a:pt x="0" y="2460800"/>
                    <a:pt x="0" y="2375383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5329552" y="8260023"/>
            <a:ext cx="3525126" cy="362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1" spc="-72" dirty="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Naive FCFS Scheduling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29552" y="8660997"/>
            <a:ext cx="3525126" cy="1127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199" spc="-46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Static logic </a:t>
            </a:r>
            <a:r>
              <a:rPr lang="en-US" sz="2199" spc="-46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prioritises</a:t>
            </a:r>
            <a:r>
              <a:rPr lang="en-US" sz="2199" spc="-46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the wrong vessel at the wrong time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223458" y="8045834"/>
            <a:ext cx="3972544" cy="1868923"/>
            <a:chOff x="0" y="0"/>
            <a:chExt cx="5296726" cy="249189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296789" cy="2491832"/>
            </a:xfrm>
            <a:custGeom>
              <a:avLst/>
              <a:gdLst/>
              <a:ahLst/>
              <a:cxnLst/>
              <a:rect l="l" t="t" r="r" b="b"/>
              <a:pathLst>
                <a:path w="5296789" h="2491832">
                  <a:moveTo>
                    <a:pt x="0" y="152220"/>
                  </a:moveTo>
                  <a:cubicBezTo>
                    <a:pt x="0" y="68090"/>
                    <a:pt x="52832" y="0"/>
                    <a:pt x="118110" y="0"/>
                  </a:cubicBezTo>
                  <a:lnTo>
                    <a:pt x="5178679" y="0"/>
                  </a:lnTo>
                  <a:cubicBezTo>
                    <a:pt x="5243957" y="0"/>
                    <a:pt x="5296789" y="68090"/>
                    <a:pt x="5296789" y="152220"/>
                  </a:cubicBezTo>
                  <a:lnTo>
                    <a:pt x="5296789" y="2339611"/>
                  </a:lnTo>
                  <a:cubicBezTo>
                    <a:pt x="5296789" y="2423742"/>
                    <a:pt x="5243957" y="2491832"/>
                    <a:pt x="5178679" y="2491832"/>
                  </a:cubicBezTo>
                  <a:lnTo>
                    <a:pt x="118110" y="2491832"/>
                  </a:lnTo>
                  <a:cubicBezTo>
                    <a:pt x="52832" y="2491832"/>
                    <a:pt x="0" y="2423742"/>
                    <a:pt x="0" y="2339611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9447162" y="8260023"/>
            <a:ext cx="2744838" cy="362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1" spc="-72" dirty="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Cascading Failures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47162" y="8660997"/>
            <a:ext cx="3525126" cy="1127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199" spc="-46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single crane outage triggers terminal-wide congestion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3341067" y="8045834"/>
            <a:ext cx="3972544" cy="1868923"/>
            <a:chOff x="0" y="0"/>
            <a:chExt cx="5296726" cy="249189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296789" cy="2491832"/>
            </a:xfrm>
            <a:custGeom>
              <a:avLst/>
              <a:gdLst/>
              <a:ahLst/>
              <a:cxnLst/>
              <a:rect l="l" t="t" r="r" b="b"/>
              <a:pathLst>
                <a:path w="5296789" h="2491832">
                  <a:moveTo>
                    <a:pt x="0" y="152220"/>
                  </a:moveTo>
                  <a:cubicBezTo>
                    <a:pt x="0" y="68090"/>
                    <a:pt x="52832" y="0"/>
                    <a:pt x="118110" y="0"/>
                  </a:cubicBezTo>
                  <a:lnTo>
                    <a:pt x="5178679" y="0"/>
                  </a:lnTo>
                  <a:cubicBezTo>
                    <a:pt x="5243957" y="0"/>
                    <a:pt x="5296789" y="68090"/>
                    <a:pt x="5296789" y="152220"/>
                  </a:cubicBezTo>
                  <a:lnTo>
                    <a:pt x="5296789" y="2339611"/>
                  </a:lnTo>
                  <a:cubicBezTo>
                    <a:pt x="5296789" y="2423742"/>
                    <a:pt x="5243957" y="2491832"/>
                    <a:pt x="5178679" y="2491832"/>
                  </a:cubicBezTo>
                  <a:lnTo>
                    <a:pt x="118110" y="2491832"/>
                  </a:lnTo>
                  <a:cubicBezTo>
                    <a:pt x="52832" y="2491832"/>
                    <a:pt x="0" y="2423742"/>
                    <a:pt x="0" y="2339611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13564780" y="8260023"/>
            <a:ext cx="2132419" cy="362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1" spc="-72" dirty="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Visibility Gap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564781" y="8660997"/>
            <a:ext cx="3525126" cy="1127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199" spc="-4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Dispatchers lack forward-looking 72-hour congestion forecasting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966271" y="1415549"/>
            <a:ext cx="17230954" cy="773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300" spc="-4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PORTAI transforms port operations into a </a:t>
            </a:r>
          </a:p>
          <a:p>
            <a:pPr algn="l">
              <a:lnSpc>
                <a:spcPts val="3118"/>
              </a:lnSpc>
            </a:pPr>
            <a:r>
              <a:rPr lang="en-US" sz="2300" spc="-4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predictive decision system with four core capabilities.</a:t>
            </a:r>
          </a:p>
        </p:txBody>
      </p:sp>
      <p:sp>
        <p:nvSpPr>
          <p:cNvPr id="5" name="Freeform 5" descr="preencoded.png"/>
          <p:cNvSpPr/>
          <p:nvPr/>
        </p:nvSpPr>
        <p:spPr>
          <a:xfrm>
            <a:off x="992991" y="2500627"/>
            <a:ext cx="5395674" cy="1443866"/>
          </a:xfrm>
          <a:custGeom>
            <a:avLst/>
            <a:gdLst/>
            <a:ahLst/>
            <a:cxnLst/>
            <a:rect l="l" t="t" r="r" b="b"/>
            <a:pathLst>
              <a:path w="5395674" h="1443866">
                <a:moveTo>
                  <a:pt x="0" y="0"/>
                </a:moveTo>
                <a:lnTo>
                  <a:pt x="5395674" y="0"/>
                </a:lnTo>
                <a:lnTo>
                  <a:pt x="5395674" y="1443866"/>
                </a:lnTo>
                <a:lnTo>
                  <a:pt x="0" y="1443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89" b="-89"/>
            </a:stretch>
          </a:blipFill>
        </p:spPr>
      </p:sp>
      <p:sp>
        <p:nvSpPr>
          <p:cNvPr id="6" name="Freeform 6" descr="preencoded.png"/>
          <p:cNvSpPr/>
          <p:nvPr/>
        </p:nvSpPr>
        <p:spPr>
          <a:xfrm>
            <a:off x="1265101" y="3073622"/>
            <a:ext cx="297885" cy="297894"/>
          </a:xfrm>
          <a:custGeom>
            <a:avLst/>
            <a:gdLst/>
            <a:ahLst/>
            <a:cxnLst/>
            <a:rect l="l" t="t" r="r" b="b"/>
            <a:pathLst>
              <a:path w="297885" h="297894">
                <a:moveTo>
                  <a:pt x="0" y="0"/>
                </a:moveTo>
                <a:lnTo>
                  <a:pt x="297885" y="0"/>
                </a:lnTo>
                <a:lnTo>
                  <a:pt x="297885" y="297895"/>
                </a:lnTo>
                <a:lnTo>
                  <a:pt x="0" y="2978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2502" r="-12499"/>
            </a:stretch>
          </a:blipFill>
        </p:spPr>
      </p:sp>
      <p:sp>
        <p:nvSpPr>
          <p:cNvPr id="7" name="Freeform 7" descr="preencoded.png"/>
          <p:cNvSpPr/>
          <p:nvPr/>
        </p:nvSpPr>
        <p:spPr>
          <a:xfrm>
            <a:off x="992991" y="4083463"/>
            <a:ext cx="5395674" cy="1443866"/>
          </a:xfrm>
          <a:custGeom>
            <a:avLst/>
            <a:gdLst/>
            <a:ahLst/>
            <a:cxnLst/>
            <a:rect l="l" t="t" r="r" b="b"/>
            <a:pathLst>
              <a:path w="5395674" h="1443866">
                <a:moveTo>
                  <a:pt x="0" y="0"/>
                </a:moveTo>
                <a:lnTo>
                  <a:pt x="5395674" y="0"/>
                </a:lnTo>
                <a:lnTo>
                  <a:pt x="5395674" y="1443866"/>
                </a:lnTo>
                <a:lnTo>
                  <a:pt x="0" y="1443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89" b="-89"/>
            </a:stretch>
          </a:blipFill>
        </p:spPr>
      </p:sp>
      <p:sp>
        <p:nvSpPr>
          <p:cNvPr id="8" name="Freeform 8" descr="preencoded.png"/>
          <p:cNvSpPr/>
          <p:nvPr/>
        </p:nvSpPr>
        <p:spPr>
          <a:xfrm>
            <a:off x="1265101" y="4656449"/>
            <a:ext cx="297885" cy="297894"/>
          </a:xfrm>
          <a:custGeom>
            <a:avLst/>
            <a:gdLst/>
            <a:ahLst/>
            <a:cxnLst/>
            <a:rect l="l" t="t" r="r" b="b"/>
            <a:pathLst>
              <a:path w="297885" h="297894">
                <a:moveTo>
                  <a:pt x="0" y="0"/>
                </a:moveTo>
                <a:lnTo>
                  <a:pt x="297885" y="0"/>
                </a:lnTo>
                <a:lnTo>
                  <a:pt x="297885" y="297894"/>
                </a:lnTo>
                <a:lnTo>
                  <a:pt x="0" y="2978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127" r="-3124"/>
            </a:stretch>
          </a:blipFill>
        </p:spPr>
      </p:sp>
      <p:sp>
        <p:nvSpPr>
          <p:cNvPr id="9" name="Freeform 9" descr="preencoded.png"/>
          <p:cNvSpPr/>
          <p:nvPr/>
        </p:nvSpPr>
        <p:spPr>
          <a:xfrm>
            <a:off x="992991" y="5666299"/>
            <a:ext cx="5395674" cy="1443866"/>
          </a:xfrm>
          <a:custGeom>
            <a:avLst/>
            <a:gdLst/>
            <a:ahLst/>
            <a:cxnLst/>
            <a:rect l="l" t="t" r="r" b="b"/>
            <a:pathLst>
              <a:path w="5395674" h="1443866">
                <a:moveTo>
                  <a:pt x="0" y="0"/>
                </a:moveTo>
                <a:lnTo>
                  <a:pt x="5395674" y="0"/>
                </a:lnTo>
                <a:lnTo>
                  <a:pt x="5395674" y="1443866"/>
                </a:lnTo>
                <a:lnTo>
                  <a:pt x="0" y="1443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89" b="-89"/>
            </a:stretch>
          </a:blipFill>
        </p:spPr>
      </p:sp>
      <p:sp>
        <p:nvSpPr>
          <p:cNvPr id="10" name="Freeform 10" descr="preencoded.png"/>
          <p:cNvSpPr/>
          <p:nvPr/>
        </p:nvSpPr>
        <p:spPr>
          <a:xfrm>
            <a:off x="1265101" y="6239285"/>
            <a:ext cx="297885" cy="297894"/>
          </a:xfrm>
          <a:custGeom>
            <a:avLst/>
            <a:gdLst/>
            <a:ahLst/>
            <a:cxnLst/>
            <a:rect l="l" t="t" r="r" b="b"/>
            <a:pathLst>
              <a:path w="297885" h="297894">
                <a:moveTo>
                  <a:pt x="0" y="0"/>
                </a:moveTo>
                <a:lnTo>
                  <a:pt x="297885" y="0"/>
                </a:lnTo>
                <a:lnTo>
                  <a:pt x="297885" y="297894"/>
                </a:lnTo>
                <a:lnTo>
                  <a:pt x="0" y="297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6247" b="-6247"/>
            </a:stretch>
          </a:blipFill>
        </p:spPr>
      </p:sp>
      <p:sp>
        <p:nvSpPr>
          <p:cNvPr id="11" name="Freeform 11" descr="preencoded.png"/>
          <p:cNvSpPr/>
          <p:nvPr/>
        </p:nvSpPr>
        <p:spPr>
          <a:xfrm>
            <a:off x="992991" y="7413489"/>
            <a:ext cx="5395674" cy="1443866"/>
          </a:xfrm>
          <a:custGeom>
            <a:avLst/>
            <a:gdLst/>
            <a:ahLst/>
            <a:cxnLst/>
            <a:rect l="l" t="t" r="r" b="b"/>
            <a:pathLst>
              <a:path w="5395674" h="1443866">
                <a:moveTo>
                  <a:pt x="0" y="0"/>
                </a:moveTo>
                <a:lnTo>
                  <a:pt x="5395674" y="0"/>
                </a:lnTo>
                <a:lnTo>
                  <a:pt x="5395674" y="1443866"/>
                </a:lnTo>
                <a:lnTo>
                  <a:pt x="0" y="1443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89" b="-89"/>
            </a:stretch>
          </a:blipFill>
        </p:spPr>
      </p:sp>
      <p:sp>
        <p:nvSpPr>
          <p:cNvPr id="12" name="Freeform 12" descr="preencoded.png"/>
          <p:cNvSpPr/>
          <p:nvPr/>
        </p:nvSpPr>
        <p:spPr>
          <a:xfrm>
            <a:off x="1265101" y="7822120"/>
            <a:ext cx="297885" cy="297894"/>
          </a:xfrm>
          <a:custGeom>
            <a:avLst/>
            <a:gdLst/>
            <a:ahLst/>
            <a:cxnLst/>
            <a:rect l="l" t="t" r="r" b="b"/>
            <a:pathLst>
              <a:path w="297885" h="297894">
                <a:moveTo>
                  <a:pt x="0" y="0"/>
                </a:moveTo>
                <a:lnTo>
                  <a:pt x="297885" y="0"/>
                </a:lnTo>
                <a:lnTo>
                  <a:pt x="297885" y="297895"/>
                </a:lnTo>
                <a:lnTo>
                  <a:pt x="0" y="2978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2502" r="-12499"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8485860" y="210617"/>
            <a:ext cx="9226487" cy="4652295"/>
            <a:chOff x="0" y="0"/>
            <a:chExt cx="9739935" cy="4911192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9739884" cy="4911217"/>
            </a:xfrm>
            <a:custGeom>
              <a:avLst/>
              <a:gdLst/>
              <a:ahLst/>
              <a:cxnLst/>
              <a:rect l="l" t="t" r="r" b="b"/>
              <a:pathLst>
                <a:path w="9739884" h="4911217">
                  <a:moveTo>
                    <a:pt x="0" y="0"/>
                  </a:moveTo>
                  <a:lnTo>
                    <a:pt x="9739884" y="0"/>
                  </a:lnTo>
                  <a:lnTo>
                    <a:pt x="9739884" y="4911217"/>
                  </a:lnTo>
                  <a:lnTo>
                    <a:pt x="0" y="49112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32" b="-32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8508926" y="5409124"/>
            <a:ext cx="9203421" cy="4616700"/>
          </a:xfrm>
          <a:custGeom>
            <a:avLst/>
            <a:gdLst/>
            <a:ahLst/>
            <a:cxnLst/>
            <a:rect l="l" t="t" r="r" b="b"/>
            <a:pathLst>
              <a:path w="9203421" h="4616700">
                <a:moveTo>
                  <a:pt x="0" y="0"/>
                </a:moveTo>
                <a:lnTo>
                  <a:pt x="9203422" y="0"/>
                </a:lnTo>
                <a:lnTo>
                  <a:pt x="9203422" y="4616700"/>
                </a:lnTo>
                <a:lnTo>
                  <a:pt x="0" y="4616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966271" y="191567"/>
            <a:ext cx="6183987" cy="1214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3903" b="1" spc="-11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Meet PORTAI: </a:t>
            </a:r>
          </a:p>
          <a:p>
            <a:pPr algn="l">
              <a:lnSpc>
                <a:spcPts val="4871"/>
              </a:lnSpc>
            </a:pPr>
            <a:r>
              <a:rPr lang="en-US" sz="3903" b="1" spc="-11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From Reactive to Predictive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54996" y="2506066"/>
            <a:ext cx="1142881" cy="3294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199" b="1" spc="-65" dirty="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Predict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54997" y="2835554"/>
            <a:ext cx="4206535" cy="1099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3"/>
              </a:lnSpc>
            </a:pPr>
            <a:r>
              <a:rPr lang="en-US" sz="2199" spc="-4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72-hour multi-terminal congestion forecast with normalised 0–100 index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54997" y="4219251"/>
            <a:ext cx="1474003" cy="327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199" b="1" spc="-65" dirty="0" err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Optimise</a:t>
            </a:r>
            <a:endParaRPr lang="en-US" sz="2199" b="1" spc="-65" dirty="0">
              <a:solidFill>
                <a:srgbClr val="272525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954997" y="4643085"/>
            <a:ext cx="4206535" cy="727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3"/>
              </a:lnSpc>
            </a:pPr>
            <a:r>
              <a:rPr lang="en-US" sz="2199" spc="-4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Priority-aware berth allocation and STS crane grouping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54996" y="5708303"/>
            <a:ext cx="1474003" cy="327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199" b="1" spc="-65" dirty="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Simulate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54997" y="6018743"/>
            <a:ext cx="4206535" cy="1099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3"/>
              </a:lnSpc>
            </a:pPr>
            <a:r>
              <a:rPr lang="en-US" sz="2199" spc="-4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Non-destructive What-If incident simulation via in-memory state clone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54996" y="7447692"/>
            <a:ext cx="788203" cy="327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199" b="1" spc="-65" dirty="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Brief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54997" y="7727814"/>
            <a:ext cx="4206535" cy="1099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3"/>
              </a:lnSpc>
            </a:pPr>
            <a:r>
              <a:rPr lang="en-US" sz="2199" spc="-4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Grounded AI operations copilot and automated 72-hour executive shift briefing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946414"/>
            <a:ext cx="16315868" cy="69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sz="4128" b="1" spc="-12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How PORTAI Works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1911591"/>
            <a:ext cx="17230954" cy="823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400" spc="-4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modular React + FastAPI architecture combines forecasting, optimisation, grounded AI, and safe simulation — all with zero live database mutation.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625246" y="2735237"/>
            <a:ext cx="13051317" cy="7172133"/>
            <a:chOff x="0" y="0"/>
            <a:chExt cx="16315766" cy="9177757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6315817" cy="9177782"/>
            </a:xfrm>
            <a:custGeom>
              <a:avLst/>
              <a:gdLst/>
              <a:ahLst/>
              <a:cxnLst/>
              <a:rect l="l" t="t" r="r" b="b"/>
              <a:pathLst>
                <a:path w="16315817" h="9177782">
                  <a:moveTo>
                    <a:pt x="0" y="0"/>
                  </a:moveTo>
                  <a:lnTo>
                    <a:pt x="16315817" y="0"/>
                  </a:lnTo>
                  <a:lnTo>
                    <a:pt x="16315817" y="9177782"/>
                  </a:lnTo>
                  <a:lnTo>
                    <a:pt x="0" y="9177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1" b="-5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992991" y="798205"/>
            <a:ext cx="16315868" cy="595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6"/>
              </a:lnSpc>
            </a:pPr>
            <a:r>
              <a:rPr lang="en-US" sz="3602" b="1" spc="-10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What-If Simulation: Break It Before It Breaks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92991" y="1604753"/>
            <a:ext cx="17230954" cy="79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400" spc="-4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Test catastrophic equipment failures without modifying live operational data. The in-memory clone sandbox preserves 100% database integrity throughout.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2991" y="2778908"/>
            <a:ext cx="5664471" cy="366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6"/>
              </a:lnSpc>
            </a:pPr>
            <a:r>
              <a:rPr lang="en-US" sz="2401" b="1" spc="-7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STS Crane 3 — Hydraulic Failure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3316719"/>
            <a:ext cx="7171496" cy="374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299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Terminal 1 during a 13-vessel arrival surge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991" y="4017626"/>
            <a:ext cx="6256411" cy="19069"/>
            <a:chOff x="0" y="0"/>
            <a:chExt cx="8341881" cy="254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341868" cy="25400"/>
            </a:xfrm>
            <a:custGeom>
              <a:avLst/>
              <a:gdLst/>
              <a:ahLst/>
              <a:cxnLst/>
              <a:rect l="l" t="t" r="r" b="b"/>
              <a:pathLst>
                <a:path w="8341868" h="25400">
                  <a:moveTo>
                    <a:pt x="0" y="0"/>
                  </a:moveTo>
                  <a:lnTo>
                    <a:pt x="8341868" y="0"/>
                  </a:lnTo>
                  <a:lnTo>
                    <a:pt x="834186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992990" y="4312919"/>
            <a:ext cx="2992279" cy="3494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299" b="1" spc="-68" dirty="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Normal Port State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92991" y="4988300"/>
            <a:ext cx="6256411" cy="19069"/>
            <a:chOff x="0" y="0"/>
            <a:chExt cx="8341881" cy="254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341868" cy="25400"/>
            </a:xfrm>
            <a:custGeom>
              <a:avLst/>
              <a:gdLst/>
              <a:ahLst/>
              <a:cxnLst/>
              <a:rect l="l" t="t" r="r" b="b"/>
              <a:pathLst>
                <a:path w="8341868" h="25400">
                  <a:moveTo>
                    <a:pt x="0" y="0"/>
                  </a:moveTo>
                  <a:lnTo>
                    <a:pt x="8341868" y="0"/>
                  </a:lnTo>
                  <a:lnTo>
                    <a:pt x="834186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992991" y="5299681"/>
            <a:ext cx="3502809" cy="3494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299" b="1" spc="-68" dirty="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Simulate Crane Failure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92991" y="5958973"/>
            <a:ext cx="6256411" cy="19069"/>
            <a:chOff x="0" y="0"/>
            <a:chExt cx="8341881" cy="254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341868" cy="25400"/>
            </a:xfrm>
            <a:custGeom>
              <a:avLst/>
              <a:gdLst/>
              <a:ahLst/>
              <a:cxnLst/>
              <a:rect l="l" t="t" r="r" b="b"/>
              <a:pathLst>
                <a:path w="8341868" h="25400">
                  <a:moveTo>
                    <a:pt x="0" y="0"/>
                  </a:moveTo>
                  <a:lnTo>
                    <a:pt x="8341868" y="0"/>
                  </a:lnTo>
                  <a:lnTo>
                    <a:pt x="834186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992991" y="6235217"/>
            <a:ext cx="3579009" cy="3494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299" b="1" spc="-68" dirty="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Clone State in Memory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92991" y="6929638"/>
            <a:ext cx="6256411" cy="19069"/>
            <a:chOff x="0" y="0"/>
            <a:chExt cx="8341881" cy="2542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341868" cy="25400"/>
            </a:xfrm>
            <a:custGeom>
              <a:avLst/>
              <a:gdLst/>
              <a:ahLst/>
              <a:cxnLst/>
              <a:rect l="l" t="t" r="r" b="b"/>
              <a:pathLst>
                <a:path w="8341868" h="25400">
                  <a:moveTo>
                    <a:pt x="0" y="0"/>
                  </a:moveTo>
                  <a:lnTo>
                    <a:pt x="8341868" y="0"/>
                  </a:lnTo>
                  <a:lnTo>
                    <a:pt x="834186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992990" y="7186832"/>
            <a:ext cx="3655209" cy="3494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299" b="1" spc="-68" dirty="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Recalculate Congestion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92991" y="7900311"/>
            <a:ext cx="6256411" cy="19069"/>
            <a:chOff x="0" y="0"/>
            <a:chExt cx="8341881" cy="2542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341868" cy="25400"/>
            </a:xfrm>
            <a:custGeom>
              <a:avLst/>
              <a:gdLst/>
              <a:ahLst/>
              <a:cxnLst/>
              <a:rect l="l" t="t" r="r" b="b"/>
              <a:pathLst>
                <a:path w="8341868" h="25400">
                  <a:moveTo>
                    <a:pt x="0" y="0"/>
                  </a:moveTo>
                  <a:lnTo>
                    <a:pt x="8341868" y="0"/>
                  </a:lnTo>
                  <a:lnTo>
                    <a:pt x="834186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992991" y="8186079"/>
            <a:ext cx="5014198" cy="3494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299" b="1" spc="-68" dirty="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Measure Queue / Dwell Impact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92991" y="8870985"/>
            <a:ext cx="6256411" cy="19069"/>
            <a:chOff x="0" y="0"/>
            <a:chExt cx="8341881" cy="2542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341868" cy="25400"/>
            </a:xfrm>
            <a:custGeom>
              <a:avLst/>
              <a:gdLst/>
              <a:ahLst/>
              <a:cxnLst/>
              <a:rect l="l" t="t" r="r" b="b"/>
              <a:pathLst>
                <a:path w="8341868" h="25400">
                  <a:moveTo>
                    <a:pt x="0" y="0"/>
                  </a:moveTo>
                  <a:lnTo>
                    <a:pt x="8341868" y="0"/>
                  </a:lnTo>
                  <a:lnTo>
                    <a:pt x="834186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992990" y="9067980"/>
            <a:ext cx="6093609" cy="3494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299" b="1" spc="-68" dirty="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Generate Rerouting Recommendation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648671" y="3394068"/>
            <a:ext cx="10286603" cy="5129811"/>
            <a:chOff x="0" y="0"/>
            <a:chExt cx="8328177" cy="4153167"/>
          </a:xfrm>
        </p:grpSpPr>
        <p:sp>
          <p:nvSpPr>
            <p:cNvPr id="27" name="Freeform 27" descr="preencoded.png"/>
            <p:cNvSpPr/>
            <p:nvPr/>
          </p:nvSpPr>
          <p:spPr>
            <a:xfrm>
              <a:off x="0" y="0"/>
              <a:ext cx="8328152" cy="4153154"/>
            </a:xfrm>
            <a:custGeom>
              <a:avLst/>
              <a:gdLst/>
              <a:ahLst/>
              <a:cxnLst/>
              <a:rect l="l" t="t" r="r" b="b"/>
              <a:pathLst>
                <a:path w="8328152" h="4153154">
                  <a:moveTo>
                    <a:pt x="0" y="0"/>
                  </a:moveTo>
                  <a:lnTo>
                    <a:pt x="8328152" y="0"/>
                  </a:lnTo>
                  <a:lnTo>
                    <a:pt x="8328152" y="4153154"/>
                  </a:lnTo>
                  <a:lnTo>
                    <a:pt x="0" y="4153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1" r="-21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920801"/>
            <a:ext cx="16315868" cy="78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sz="4728" b="1" spc="-14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Built Faster with IBM Bob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2065306"/>
            <a:ext cx="16315868" cy="761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 spc="-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IBM Bob accelerated our engineering workflow from architecture scaffolding through to automated validation — compressing development time significantly.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078139" y="3057230"/>
            <a:ext cx="8145418" cy="4834442"/>
            <a:chOff x="0" y="0"/>
            <a:chExt cx="10860557" cy="6445923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0860532" cy="6445885"/>
            </a:xfrm>
            <a:custGeom>
              <a:avLst/>
              <a:gdLst/>
              <a:ahLst/>
              <a:cxnLst/>
              <a:rect l="l" t="t" r="r" b="b"/>
              <a:pathLst>
                <a:path w="10860532" h="6445885">
                  <a:moveTo>
                    <a:pt x="0" y="0"/>
                  </a:moveTo>
                  <a:lnTo>
                    <a:pt x="10860532" y="0"/>
                  </a:lnTo>
                  <a:lnTo>
                    <a:pt x="10860532" y="6445885"/>
                  </a:lnTo>
                  <a:lnTo>
                    <a:pt x="0" y="64458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3" b="-53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747467" y="6760769"/>
            <a:ext cx="2024758" cy="399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7"/>
              </a:lnSpc>
            </a:pPr>
            <a:r>
              <a:rPr lang="en-US" sz="2401" b="1" spc="-7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Validate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95710" y="6760769"/>
            <a:ext cx="2024758" cy="399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7"/>
              </a:lnSpc>
            </a:pPr>
            <a:r>
              <a:rPr lang="en-US" sz="2401" b="1" spc="-7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Engineer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02357" y="6760769"/>
            <a:ext cx="2024758" cy="399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7"/>
              </a:lnSpc>
            </a:pPr>
            <a:r>
              <a:rPr lang="en-US" sz="2401" b="1" spc="-7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Architect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92991" y="8122244"/>
            <a:ext cx="16315868" cy="1223429"/>
            <a:chOff x="0" y="0"/>
            <a:chExt cx="21754490" cy="163123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754592" cy="1631315"/>
            </a:xfrm>
            <a:custGeom>
              <a:avLst/>
              <a:gdLst/>
              <a:ahLst/>
              <a:cxnLst/>
              <a:rect l="l" t="t" r="r" b="b"/>
              <a:pathLst>
                <a:path w="21754592" h="1631315">
                  <a:moveTo>
                    <a:pt x="0" y="135128"/>
                  </a:moveTo>
                  <a:cubicBezTo>
                    <a:pt x="0" y="60452"/>
                    <a:pt x="60452" y="0"/>
                    <a:pt x="135128" y="0"/>
                  </a:cubicBezTo>
                  <a:lnTo>
                    <a:pt x="21619463" y="0"/>
                  </a:lnTo>
                  <a:cubicBezTo>
                    <a:pt x="21694012" y="0"/>
                    <a:pt x="21754592" y="60452"/>
                    <a:pt x="21754592" y="135128"/>
                  </a:cubicBezTo>
                  <a:lnTo>
                    <a:pt x="21754592" y="1496187"/>
                  </a:lnTo>
                  <a:cubicBezTo>
                    <a:pt x="21754592" y="1570736"/>
                    <a:pt x="21694139" y="1631315"/>
                    <a:pt x="21619463" y="1631315"/>
                  </a:cubicBezTo>
                  <a:lnTo>
                    <a:pt x="135128" y="1631315"/>
                  </a:lnTo>
                  <a:cubicBezTo>
                    <a:pt x="60452" y="1631188"/>
                    <a:pt x="0" y="1570736"/>
                    <a:pt x="0" y="1496187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34126" y="8414623"/>
            <a:ext cx="301457" cy="241144"/>
            <a:chOff x="0" y="0"/>
            <a:chExt cx="401942" cy="321526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401955" cy="321564"/>
            </a:xfrm>
            <a:custGeom>
              <a:avLst/>
              <a:gdLst/>
              <a:ahLst/>
              <a:cxnLst/>
              <a:rect l="l" t="t" r="r" b="b"/>
              <a:pathLst>
                <a:path w="401955" h="321564">
                  <a:moveTo>
                    <a:pt x="0" y="0"/>
                  </a:moveTo>
                  <a:lnTo>
                    <a:pt x="401955" y="0"/>
                  </a:lnTo>
                  <a:lnTo>
                    <a:pt x="401955" y="321564"/>
                  </a:lnTo>
                  <a:lnTo>
                    <a:pt x="0" y="321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85" r="3" b="-774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776717" y="8339738"/>
            <a:ext cx="15291006" cy="761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 b="1" spc="-3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Transparency Note:</a:t>
            </a:r>
            <a:r>
              <a:rPr lang="en-US" sz="1876" spc="-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IBM Bob was used as a development engineering assistant. Runtime LLM generation uses Google Gemini API and Anthropic Claude API. IBM Bob is not the runtime AI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768420"/>
            <a:ext cx="4725948" cy="540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8"/>
              </a:lnSpc>
            </a:pPr>
            <a:r>
              <a:rPr lang="en-US" sz="3452" b="1" spc="-10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Measured Performance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1542040"/>
            <a:ext cx="17230954" cy="776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9"/>
              </a:lnSpc>
            </a:pPr>
            <a:r>
              <a:rPr lang="en-US" sz="2400" spc="-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PORTAI significantly reduces vessel waiting time while maintaining sub-second optimisation across a 45-vessel, 12-berth, 25-crane test environment.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2291" y="2796816"/>
            <a:ext cx="5256867" cy="494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</a:pPr>
            <a:r>
              <a:rPr lang="en-US" sz="4578" b="1" spc="-139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40–55%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01378" y="3424589"/>
            <a:ext cx="3261222" cy="362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5"/>
              </a:lnSpc>
            </a:pPr>
            <a:r>
              <a:rPr lang="en-US" sz="2400" b="1" spc="-73" dirty="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Dwell-Time Reduction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517222" y="3850662"/>
            <a:ext cx="8087630" cy="35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7"/>
              </a:lnSpc>
            </a:pPr>
            <a:r>
              <a:rPr lang="en-US" sz="2199" spc="-4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Compared to naive FCFS scheduling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22487" y="2796816"/>
            <a:ext cx="5256867" cy="494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</a:pPr>
            <a:r>
              <a:rPr lang="en-US" sz="4578" b="1" spc="-139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&lt;250ms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64892" y="3424590"/>
            <a:ext cx="2543651" cy="370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5"/>
              </a:lnSpc>
            </a:pPr>
            <a:r>
              <a:rPr lang="en-US" sz="2400" b="1" spc="-73" dirty="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Solver Execution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07105" y="3823087"/>
            <a:ext cx="8087630" cy="350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77"/>
              </a:lnSpc>
            </a:pPr>
            <a:r>
              <a:rPr lang="en-US" sz="2199" spc="-46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Across 45 vessels, 12 berths, 25 cranes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29592" y="5084274"/>
            <a:ext cx="5256867" cy="494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</a:pPr>
            <a:r>
              <a:rPr lang="en-US" sz="4578" b="1" spc="-139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877800" y="5769197"/>
            <a:ext cx="2624247" cy="362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5"/>
              </a:lnSpc>
            </a:pPr>
            <a:r>
              <a:rPr lang="en-US" sz="2400" b="1" spc="-73" dirty="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Vessels in Surge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14210" y="6297492"/>
            <a:ext cx="8087630" cy="71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7"/>
              </a:lnSpc>
            </a:pPr>
            <a:r>
              <a:rPr lang="en-US" sz="2199" spc="-4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Arrival surge detected 24 hours before projected harbour gridlock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02433" y="2796816"/>
            <a:ext cx="5256867" cy="494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</a:pPr>
            <a:r>
              <a:rPr lang="en-US" sz="4578" b="1" spc="-139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100%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194735" y="3424590"/>
            <a:ext cx="2835293" cy="370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5"/>
              </a:lnSpc>
            </a:pPr>
            <a:r>
              <a:rPr lang="en-US" sz="2400" b="1" spc="-73" dirty="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Database Integrity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87052" y="3823087"/>
            <a:ext cx="8087630" cy="35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7"/>
              </a:lnSpc>
            </a:pPr>
            <a:r>
              <a:rPr lang="en-US" sz="2199" spc="-4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Maintained during all incident simulations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272291" y="4277687"/>
            <a:ext cx="8669964" cy="5700027"/>
            <a:chOff x="0" y="0"/>
            <a:chExt cx="8333130" cy="5478577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8333105" cy="5478526"/>
            </a:xfrm>
            <a:custGeom>
              <a:avLst/>
              <a:gdLst/>
              <a:ahLst/>
              <a:cxnLst/>
              <a:rect l="l" t="t" r="r" b="b"/>
              <a:pathLst>
                <a:path w="8333105" h="5478526">
                  <a:moveTo>
                    <a:pt x="0" y="0"/>
                  </a:moveTo>
                  <a:lnTo>
                    <a:pt x="8333105" y="0"/>
                  </a:lnTo>
                  <a:lnTo>
                    <a:pt x="8333105" y="5478526"/>
                  </a:lnTo>
                  <a:lnTo>
                    <a:pt x="0" y="5478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2" b="-83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2230030" y="7736548"/>
            <a:ext cx="2857570" cy="362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1" spc="-73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Benchmark Result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205906" y="8260423"/>
            <a:ext cx="6264745" cy="1167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9"/>
              </a:lnSpc>
            </a:pPr>
            <a:r>
              <a:rPr lang="en-US" sz="2400" spc="-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FCFS average: </a:t>
            </a:r>
            <a:r>
              <a:rPr lang="en-US" sz="2400" b="1" spc="-5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11.8 hours</a:t>
            </a:r>
          </a:p>
          <a:p>
            <a:pPr algn="l">
              <a:lnSpc>
                <a:spcPts val="3139"/>
              </a:lnSpc>
            </a:pPr>
            <a:r>
              <a:rPr lang="en-US" sz="2400" spc="-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PORTAI dispatch: </a:t>
            </a:r>
            <a:r>
              <a:rPr lang="en-US" sz="2400" b="1" spc="-5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5.4 hours</a:t>
            </a:r>
          </a:p>
          <a:p>
            <a:pPr algn="l">
              <a:lnSpc>
                <a:spcPts val="3139"/>
              </a:lnSpc>
            </a:pPr>
            <a:r>
              <a:rPr lang="en-US" sz="2400" spc="-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≈ </a:t>
            </a:r>
            <a:r>
              <a:rPr lang="en-US" sz="2400" b="1" spc="-5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54.2% reduction</a:t>
            </a:r>
            <a:r>
              <a:rPr lang="en-US" sz="2400" spc="-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in this benchmark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" y="-8039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76200" y="-46139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1068695"/>
            <a:ext cx="16315868" cy="915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b="1" spc="-16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Team Redux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43442" y="3053361"/>
            <a:ext cx="16315858" cy="4614005"/>
            <a:chOff x="0" y="0"/>
            <a:chExt cx="21754478" cy="6152007"/>
          </a:xfrm>
        </p:grpSpPr>
        <p:sp>
          <p:nvSpPr>
            <p:cNvPr id="8" name="TextBox 8"/>
            <p:cNvSpPr txBox="1"/>
            <p:nvPr/>
          </p:nvSpPr>
          <p:spPr>
            <a:xfrm>
              <a:off x="0" y="-19050"/>
              <a:ext cx="5083848" cy="6100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65"/>
                </a:lnSpc>
              </a:pPr>
              <a:r>
                <a:rPr lang="en-US" sz="2777" b="1" spc="-84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Om Chauhan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741807"/>
              <a:ext cx="5083848" cy="1286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74"/>
                </a:lnSpc>
              </a:pPr>
              <a:r>
                <a:rPr lang="en-US" sz="2176" b="1" spc="-45" dirty="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Team Lead &amp; Full-Stack Integration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179422"/>
              <a:ext cx="5083848" cy="2761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94236" lvl="1" indent="-197118" algn="l">
                <a:lnSpc>
                  <a:spcPts val="3474"/>
                </a:lnSpc>
                <a:buFont typeface="Arial"/>
                <a:buChar char="•"/>
              </a:pPr>
              <a:r>
                <a:rPr lang="en-US" sz="2176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Backend / API integration</a:t>
              </a:r>
            </a:p>
            <a:p>
              <a:pPr marL="394236" lvl="1" indent="-197118" algn="l">
                <a:lnSpc>
                  <a:spcPts val="3474"/>
                </a:lnSpc>
                <a:buFont typeface="Arial"/>
                <a:buChar char="•"/>
              </a:pPr>
              <a:r>
                <a:rPr lang="en-US" sz="2176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Automated test harness</a:t>
              </a:r>
            </a:p>
            <a:p>
              <a:pPr marL="394236" lvl="1" indent="-197118" algn="l">
                <a:lnSpc>
                  <a:spcPts val="3474"/>
                </a:lnSpc>
                <a:buFont typeface="Arial"/>
                <a:buChar char="•"/>
              </a:pPr>
              <a:r>
                <a:rPr lang="en-US" sz="2176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UI &amp; submission integration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56682" y="-19050"/>
              <a:ext cx="5084039" cy="6100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65"/>
                </a:lnSpc>
              </a:pPr>
              <a:r>
                <a:rPr lang="en-US" sz="2777" b="1" spc="-84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Darshan Hotchandani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56682" y="741807"/>
              <a:ext cx="5084039" cy="1286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74"/>
                </a:lnSpc>
              </a:pPr>
              <a:r>
                <a:rPr lang="en-US" sz="2176" b="1" spc="-45" dirty="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Backend Architecture &amp; Core Services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56682" y="2179422"/>
              <a:ext cx="5084039" cy="39725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94236" lvl="1" indent="-197118" algn="l">
                <a:lnSpc>
                  <a:spcPts val="3474"/>
                </a:lnSpc>
                <a:buFont typeface="Arial"/>
                <a:buChar char="•"/>
              </a:pPr>
              <a:r>
                <a:rPr lang="en-US" sz="2176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FastAPI &amp; database architecture</a:t>
              </a:r>
            </a:p>
            <a:p>
              <a:pPr marL="394236" lvl="1" indent="-197118" algn="l">
                <a:lnSpc>
                  <a:spcPts val="3474"/>
                </a:lnSpc>
                <a:buFont typeface="Arial"/>
                <a:buChar char="•"/>
              </a:pPr>
              <a:r>
                <a:rPr lang="en-US" sz="2176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Congestion engine &amp; optimiser</a:t>
              </a:r>
            </a:p>
            <a:p>
              <a:pPr marL="394236" lvl="1" indent="-197118" algn="l">
                <a:lnSpc>
                  <a:spcPts val="3474"/>
                </a:lnSpc>
                <a:buFont typeface="Arial"/>
                <a:buChar char="•"/>
              </a:pPr>
              <a:r>
                <a:rPr lang="en-US" sz="2176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Simulation / backend services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113554" y="-19050"/>
              <a:ext cx="5084039" cy="6100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65"/>
                </a:lnSpc>
              </a:pPr>
              <a:r>
                <a:rPr lang="en-US" sz="2777" b="1" spc="-84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Shreya Patel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13554" y="741807"/>
              <a:ext cx="5084039" cy="6815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74"/>
                </a:lnSpc>
              </a:pPr>
              <a:r>
                <a:rPr lang="en-US" sz="2176" b="1" spc="-45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Frontend Engineering &amp; UI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113554" y="1574114"/>
              <a:ext cx="5084039" cy="21566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94236" lvl="1" indent="-197118" algn="l">
                <a:lnSpc>
                  <a:spcPts val="3474"/>
                </a:lnSpc>
                <a:buFont typeface="Arial"/>
                <a:buChar char="•"/>
              </a:pPr>
              <a:r>
                <a:rPr lang="en-US" sz="2176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React command centre</a:t>
              </a:r>
            </a:p>
            <a:p>
              <a:pPr marL="394236" lvl="1" indent="-197118" algn="l">
                <a:lnSpc>
                  <a:spcPts val="3474"/>
                </a:lnSpc>
                <a:buFont typeface="Arial"/>
                <a:buChar char="•"/>
              </a:pPr>
              <a:r>
                <a:rPr lang="en-US" sz="2176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Dispatch views</a:t>
              </a:r>
            </a:p>
            <a:p>
              <a:pPr marL="394236" lvl="1" indent="-197118" algn="l">
                <a:lnSpc>
                  <a:spcPts val="3474"/>
                </a:lnSpc>
                <a:buFont typeface="Arial"/>
                <a:buChar char="•"/>
              </a:pPr>
              <a:r>
                <a:rPr lang="en-US" sz="2176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Reporting &amp; navigation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670439" y="-19050"/>
              <a:ext cx="5084039" cy="6100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65"/>
                </a:lnSpc>
              </a:pPr>
              <a:r>
                <a:rPr lang="en-US" sz="2777" b="1" spc="-84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Ansh Patel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670439" y="741807"/>
              <a:ext cx="5084039" cy="40196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74"/>
                </a:lnSpc>
              </a:pPr>
              <a:r>
                <a:rPr lang="en-US" sz="2176" b="1" spc="-45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Product &amp; Research</a:t>
              </a:r>
            </a:p>
            <a:p>
              <a:pPr marL="469950" lvl="1" indent="-234975" algn="l">
                <a:lnSpc>
                  <a:spcPts val="3474"/>
                </a:lnSpc>
                <a:buFont typeface="Arial"/>
                <a:buChar char="•"/>
              </a:pPr>
              <a:r>
                <a:rPr lang="en-US" sz="2176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Problem &amp; domain research</a:t>
              </a:r>
            </a:p>
            <a:p>
              <a:pPr marL="469950" lvl="1" indent="-234975" algn="l">
                <a:lnSpc>
                  <a:spcPts val="3474"/>
                </a:lnSpc>
                <a:buFont typeface="Arial"/>
                <a:buChar char="•"/>
              </a:pPr>
              <a:r>
                <a:rPr lang="en-US" sz="2176" spc="-4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Requirements &amp; feature analysis</a:t>
              </a:r>
            </a:p>
            <a:p>
              <a:pPr marL="469950" lvl="1" indent="-234975" algn="l">
                <a:lnSpc>
                  <a:spcPts val="3474"/>
                </a:lnSpc>
                <a:buFont typeface="Arial"/>
                <a:buChar char="•"/>
              </a:pPr>
              <a:r>
                <a:rPr lang="en-US" sz="2176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Product workflow &amp; solution planning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529</Words>
  <Application>Microsoft Office PowerPoint</Application>
  <PresentationFormat>Custom</PresentationFormat>
  <Paragraphs>91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Inter Bold</vt:lpstr>
      <vt:lpstr>Inter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&amp; Research Problem &amp; domain research Requirements &amp; feature analysisProduct workflow &amp; solution planning</dc:title>
  <cp:lastModifiedBy>Rajesh Hotchandani</cp:lastModifiedBy>
  <cp:revision>3</cp:revision>
  <dcterms:created xsi:type="dcterms:W3CDTF">2006-08-16T00:00:00Z</dcterms:created>
  <dcterms:modified xsi:type="dcterms:W3CDTF">2026-09-15T17:57:57Z</dcterms:modified>
  <dc:identifier>DAHVSXEeUTQ</dc:identifier>
</cp:coreProperties>
</file>